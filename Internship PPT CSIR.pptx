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87" r:id="rId3"/>
    <p:sldId id="288" r:id="rId4"/>
    <p:sldId id="289" r:id="rId5"/>
    <p:sldId id="290" r:id="rId6"/>
    <p:sldId id="291" r:id="rId7"/>
    <p:sldId id="292" r:id="rId8"/>
    <p:sldId id="293" r:id="rId9"/>
    <p:sldId id="286" r:id="rId10"/>
  </p:sldIdLst>
  <p:sldSz cx="12192000" cy="6858000"/>
  <p:notesSz cx="6858000" cy="9144000"/>
  <p:embeddedFontLst>
    <p:embeddedFont>
      <p:font typeface="Baskerville Old Face" panose="02020602080505020303" pitchFamily="18" charset="0"/>
      <p:regular r:id="rId12"/>
    </p:embeddedFont>
    <p:embeddedFont>
      <p:font typeface="Pinyon Script" panose="020B0604020202020204" charset="0"/>
      <p:regular r:id="rId13"/>
    </p:embeddedFont>
    <p:embeddedFont>
      <p:font typeface="Play" panose="020B0604020202020204" charset="0"/>
      <p:regular r:id="rId14"/>
      <p:bold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3" roundtripDataSignature="AMtx7mgUjLHjg5Ww669CzF2YAF6lFhFT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43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8" name="Google Shape;9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0" name="Google Shape;20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4"/>
          <p:cNvSpPr txBox="1">
            <a:spLocks noGrp="1"/>
          </p:cNvSpPr>
          <p:nvPr>
            <p:ph type="title"/>
          </p:nvPr>
        </p:nvSpPr>
        <p:spPr>
          <a:xfrm>
            <a:off x="838199" y="932659"/>
            <a:ext cx="1091419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4"/>
          <p:cNvSpPr txBox="1">
            <a:spLocks noGrp="1"/>
          </p:cNvSpPr>
          <p:nvPr>
            <p:ph type="body" idx="1"/>
          </p:nvPr>
        </p:nvSpPr>
        <p:spPr>
          <a:xfrm>
            <a:off x="836425" y="2297668"/>
            <a:ext cx="10914195" cy="4058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9" name="Google Shape;29;p34" descr="Top Private University in India | MBA, BBA, B.Tech ..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4017" y="208994"/>
            <a:ext cx="2347573" cy="7816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7"/>
          <p:cNvSpPr txBox="1">
            <a:spLocks noGrp="1"/>
          </p:cNvSpPr>
          <p:nvPr>
            <p:ph type="title"/>
          </p:nvPr>
        </p:nvSpPr>
        <p:spPr>
          <a:xfrm>
            <a:off x="839788" y="74789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3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3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3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3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4" name="Google Shape;54;p37" descr="Top Private University in India | MBA, BBA, B.Tech ..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4017" y="208994"/>
            <a:ext cx="2347573" cy="7816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8"/>
          <p:cNvSpPr txBox="1">
            <a:spLocks noGrp="1"/>
          </p:cNvSpPr>
          <p:nvPr>
            <p:ph type="title"/>
          </p:nvPr>
        </p:nvSpPr>
        <p:spPr>
          <a:xfrm>
            <a:off x="838199" y="932659"/>
            <a:ext cx="1091419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3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3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0" name="Google Shape;60;p38" descr="Top Private University in India | MBA, BBA, B.Tech ..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4017" y="208994"/>
            <a:ext cx="2347573" cy="7816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5" name="Google Shape;65;p39" descr="Top Private University in India | MBA, BBA, B.Tech ..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4017" y="208994"/>
            <a:ext cx="2347573" cy="7816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0"/>
          <p:cNvSpPr txBox="1">
            <a:spLocks noGrp="1"/>
          </p:cNvSpPr>
          <p:nvPr>
            <p:ph type="title"/>
          </p:nvPr>
        </p:nvSpPr>
        <p:spPr>
          <a:xfrm>
            <a:off x="839788" y="987424"/>
            <a:ext cx="3932237" cy="1069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4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9" name="Google Shape;69;p4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0" name="Google Shape;70;p4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4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4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3" name="Google Shape;73;p40" descr="Top Private University in India | MBA, BBA, B.Tech ..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4017" y="208994"/>
            <a:ext cx="2347573" cy="7816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1"/>
          <p:cNvSpPr txBox="1">
            <a:spLocks noGrp="1"/>
          </p:cNvSpPr>
          <p:nvPr>
            <p:ph type="title"/>
          </p:nvPr>
        </p:nvSpPr>
        <p:spPr>
          <a:xfrm>
            <a:off x="839788" y="987424"/>
            <a:ext cx="3932237" cy="1069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4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8" name="Google Shape;78;p4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4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4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1" name="Google Shape;81;p41" descr="Top Private University in India | MBA, BBA, B.Tech ..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4017" y="208994"/>
            <a:ext cx="2347573" cy="7816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2"/>
          <p:cNvSpPr txBox="1">
            <a:spLocks noGrp="1"/>
          </p:cNvSpPr>
          <p:nvPr>
            <p:ph type="title"/>
          </p:nvPr>
        </p:nvSpPr>
        <p:spPr>
          <a:xfrm>
            <a:off x="838199" y="932659"/>
            <a:ext cx="1091419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42"/>
          <p:cNvSpPr txBox="1">
            <a:spLocks noGrp="1"/>
          </p:cNvSpPr>
          <p:nvPr>
            <p:ph type="body" idx="1"/>
          </p:nvPr>
        </p:nvSpPr>
        <p:spPr>
          <a:xfrm rot="5400000">
            <a:off x="4264182" y="-1130089"/>
            <a:ext cx="4058682" cy="1091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4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4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4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8" name="Google Shape;88;p42" descr="Top Private University in India | MBA, BBA, B.Tech ..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4017" y="208994"/>
            <a:ext cx="2347573" cy="7816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3"/>
          <p:cNvSpPr txBox="1">
            <a:spLocks noGrp="1"/>
          </p:cNvSpPr>
          <p:nvPr>
            <p:ph type="title"/>
          </p:nvPr>
        </p:nvSpPr>
        <p:spPr>
          <a:xfrm rot="5400000">
            <a:off x="7446169" y="2269331"/>
            <a:ext cx="5186363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43"/>
          <p:cNvSpPr txBox="1">
            <a:spLocks noGrp="1"/>
          </p:cNvSpPr>
          <p:nvPr>
            <p:ph type="body" idx="1"/>
          </p:nvPr>
        </p:nvSpPr>
        <p:spPr>
          <a:xfrm rot="5400000">
            <a:off x="2112169" y="-283368"/>
            <a:ext cx="5186362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2" name="Google Shape;92;p4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4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4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5" name="Google Shape;95;p43" descr="Top Private University in India | MBA, BBA, B.Tech ..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4017" y="208994"/>
            <a:ext cx="2347573" cy="7816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2"/>
          <p:cNvSpPr txBox="1">
            <a:spLocks noGrp="1"/>
          </p:cNvSpPr>
          <p:nvPr>
            <p:ph type="title"/>
          </p:nvPr>
        </p:nvSpPr>
        <p:spPr>
          <a:xfrm>
            <a:off x="838199" y="932659"/>
            <a:ext cx="1091419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32"/>
          <p:cNvSpPr txBox="1">
            <a:spLocks noGrp="1"/>
          </p:cNvSpPr>
          <p:nvPr>
            <p:ph type="body" idx="1"/>
          </p:nvPr>
        </p:nvSpPr>
        <p:spPr>
          <a:xfrm>
            <a:off x="836425" y="2297668"/>
            <a:ext cx="10914195" cy="4058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" name="Google Shape;15;p32" descr="Top Private University in India | MBA, BBA, B.Tech ...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44017" y="208994"/>
            <a:ext cx="2347573" cy="7816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32"/>
          <p:cNvPicPr preferRelativeResize="0"/>
          <p:nvPr/>
        </p:nvPicPr>
        <p:blipFill rotWithShape="1">
          <a:blip r:embed="rId12">
            <a:alphaModFix amt="7000"/>
          </a:blip>
          <a:srcRect/>
          <a:stretch/>
        </p:blipFill>
        <p:spPr>
          <a:xfrm>
            <a:off x="1236794" y="2297668"/>
            <a:ext cx="9718411" cy="272115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"/>
          <p:cNvSpPr txBox="1">
            <a:spLocks noGrp="1"/>
          </p:cNvSpPr>
          <p:nvPr>
            <p:ph type="ctrTitle"/>
          </p:nvPr>
        </p:nvSpPr>
        <p:spPr>
          <a:xfrm>
            <a:off x="1524000" y="1528987"/>
            <a:ext cx="9144000" cy="1900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400" b="1" dirty="0">
                <a:latin typeface="Times New Roman"/>
                <a:ea typeface="Times New Roman"/>
                <a:cs typeface="Times New Roman"/>
                <a:sym typeface="Times New Roman"/>
              </a:rPr>
              <a:t>School of Computer Science and Engineering</a:t>
            </a:r>
            <a:br>
              <a:rPr lang="en-US" sz="4400" b="1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600" b="1" dirty="0" err="1">
                <a:latin typeface="Times New Roman"/>
                <a:ea typeface="Times New Roman"/>
                <a:cs typeface="Times New Roman"/>
                <a:sym typeface="Times New Roman"/>
              </a:rPr>
              <a:t>B.Tech</a:t>
            </a:r>
            <a:r>
              <a:rPr lang="en-US" sz="3600" b="1" dirty="0">
                <a:latin typeface="Times New Roman"/>
                <a:ea typeface="Times New Roman"/>
                <a:cs typeface="Times New Roman"/>
                <a:sym typeface="Times New Roman"/>
              </a:rPr>
              <a:t> (CSE) 7 Semester </a:t>
            </a:r>
            <a:br>
              <a:rPr lang="en-US" sz="3600" b="1" dirty="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4400" dirty="0"/>
          </a:p>
        </p:txBody>
      </p:sp>
      <p:sp>
        <p:nvSpPr>
          <p:cNvPr id="2" name="Google Shape;101;p1">
            <a:extLst>
              <a:ext uri="{FF2B5EF4-FFF2-40B4-BE49-F238E27FC236}">
                <a16:creationId xmlns:a16="http://schemas.microsoft.com/office/drawing/2014/main" id="{E37BDA01-9BA1-49D2-E85A-665FAC52F8D1}"/>
              </a:ext>
            </a:extLst>
          </p:cNvPr>
          <p:cNvSpPr txBox="1">
            <a:spLocks/>
          </p:cNvSpPr>
          <p:nvPr/>
        </p:nvSpPr>
        <p:spPr>
          <a:xfrm>
            <a:off x="548686" y="3410147"/>
            <a:ext cx="11179628" cy="278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>
              <a:spcBef>
                <a:spcPts val="0"/>
              </a:spcBef>
            </a:pPr>
            <a:r>
              <a:rPr lang="en-US" b="1" dirty="0"/>
              <a:t>Internship Title:</a:t>
            </a:r>
            <a:r>
              <a:rPr lang="en-US" dirty="0"/>
              <a:t> Sign Language Recognition using Sign-IDD Model</a:t>
            </a:r>
          </a:p>
          <a:p>
            <a:pPr marL="0" indent="0" algn="l">
              <a:spcBef>
                <a:spcPts val="0"/>
              </a:spcBef>
            </a:pPr>
            <a:endParaRPr lang="en-US" dirty="0"/>
          </a:p>
          <a:p>
            <a:pPr marL="0" indent="0" algn="l">
              <a:spcBef>
                <a:spcPts val="0"/>
              </a:spcBef>
            </a:pPr>
            <a:r>
              <a:rPr lang="en-US" b="1" dirty="0"/>
              <a:t>Name:</a:t>
            </a:r>
            <a:r>
              <a:rPr lang="en-US" dirty="0"/>
              <a:t> Akash Yadav</a:t>
            </a:r>
          </a:p>
          <a:p>
            <a:pPr marL="0" indent="0" algn="l">
              <a:spcBef>
                <a:spcPts val="0"/>
              </a:spcBef>
            </a:pPr>
            <a:endParaRPr lang="en-US" dirty="0"/>
          </a:p>
          <a:p>
            <a:pPr marL="0" indent="0" algn="l">
              <a:spcBef>
                <a:spcPts val="0"/>
              </a:spcBef>
            </a:pPr>
            <a:r>
              <a:rPr lang="en-US" b="1" dirty="0"/>
              <a:t>Roll No.:</a:t>
            </a:r>
            <a:r>
              <a:rPr lang="en-US" dirty="0"/>
              <a:t> CS-23411217 </a:t>
            </a:r>
          </a:p>
          <a:p>
            <a:pPr marL="0" indent="0" algn="l">
              <a:spcBef>
                <a:spcPts val="0"/>
              </a:spcBef>
            </a:pPr>
            <a:endParaRPr lang="en-US" dirty="0"/>
          </a:p>
          <a:p>
            <a:pPr marL="0" indent="0" algn="l">
              <a:spcBef>
                <a:spcPts val="0"/>
              </a:spcBef>
            </a:pPr>
            <a:r>
              <a:rPr lang="en-US" b="1" dirty="0"/>
              <a:t>Organization:</a:t>
            </a:r>
            <a:r>
              <a:rPr lang="en-US" dirty="0"/>
              <a:t> CSIR – 4PI (CSIR–Fourth Paradigm Institute) </a:t>
            </a:r>
          </a:p>
          <a:p>
            <a:pPr marL="0" indent="0" algn="l">
              <a:spcBef>
                <a:spcPts val="0"/>
              </a:spcBef>
            </a:pPr>
            <a:endParaRPr lang="en-US" dirty="0"/>
          </a:p>
          <a:p>
            <a:pPr marL="0" indent="0" algn="l">
              <a:spcBef>
                <a:spcPts val="0"/>
              </a:spcBef>
            </a:pPr>
            <a:r>
              <a:rPr lang="en-US" b="1" dirty="0"/>
              <a:t>Internship Duration:</a:t>
            </a:r>
            <a:r>
              <a:rPr lang="en-US" dirty="0"/>
              <a:t> April 2026 – July 2026</a:t>
            </a:r>
          </a:p>
          <a:p>
            <a:pPr marL="0" indent="0" algn="l">
              <a:spcBef>
                <a:spcPts val="0"/>
              </a:spcBef>
            </a:pPr>
            <a:endParaRPr lang="en-US" dirty="0"/>
          </a:p>
        </p:txBody>
      </p:sp>
      <p:sp>
        <p:nvSpPr>
          <p:cNvPr id="4" name="Google Shape;101;p1">
            <a:extLst>
              <a:ext uri="{FF2B5EF4-FFF2-40B4-BE49-F238E27FC236}">
                <a16:creationId xmlns:a16="http://schemas.microsoft.com/office/drawing/2014/main" id="{AE5D53C0-7D9C-0407-9838-59BD2520362B}"/>
              </a:ext>
            </a:extLst>
          </p:cNvPr>
          <p:cNvSpPr txBox="1">
            <a:spLocks/>
          </p:cNvSpPr>
          <p:nvPr/>
        </p:nvSpPr>
        <p:spPr>
          <a:xfrm>
            <a:off x="463686" y="4108509"/>
            <a:ext cx="4857206" cy="1405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spcBef>
                <a:spcPts val="0"/>
              </a:spcBef>
            </a:pPr>
            <a:endParaRPr lang="en-US" b="1" dirty="0">
              <a:solidFill>
                <a:srgbClr val="9E0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9BDC8-04B8-1585-E358-EC5140DE3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5306" y="320512"/>
            <a:ext cx="5703217" cy="1190350"/>
          </a:xfrm>
        </p:spPr>
        <p:txBody>
          <a:bodyPr>
            <a:normAutofit fontScale="90000"/>
          </a:bodyPr>
          <a:lstStyle/>
          <a:p>
            <a:r>
              <a:rPr lang="en-US" dirty="0"/>
              <a:t>Internship Overview</a:t>
            </a:r>
            <a:br>
              <a:rPr lang="en-US" dirty="0"/>
            </a:b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6D5FC4B-4EE6-9B45-3B05-AE64992583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6425" y="1433918"/>
            <a:ext cx="9900705" cy="5786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Program: </a:t>
            </a:r>
            <a:r>
              <a:rPr lang="en-US" sz="1800" dirty="0"/>
              <a:t>CSIR – 4PI (CSIR–Fourth Paradigm Institute)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Domain: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dirty="0"/>
              <a:t>Computer Science and Engineering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Duration: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dirty="0"/>
              <a:t>April 2026 – July 2026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Project: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dirty="0"/>
              <a:t>Language Recognition using Sign-IDD Model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Programming Language: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dirty="0"/>
              <a:t>Python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Institution: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IILM University, Greater Noida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Academic Session: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2026–27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16151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ABEBF-621E-AB1F-37B2-DCC969A25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902" y="894952"/>
            <a:ext cx="10914195" cy="1325563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BDC4BB0-F88A-4A79-C9E3-30A20AB745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6425" y="2480352"/>
            <a:ext cx="10504020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Sign language is an important mode of communication for hearing- and speech-impaired individuals.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project focuses on recognizing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Indian Sign Language (ISL)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gestures from video sequences.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Sign-IDD dataset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was used as the source of labeled ISL gesture videos.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OpenPose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was used to extract 2D body and hand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keypoints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from video frames.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LSTM-based deep learning model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was developed to learn temporal gesture patterns and predict gesture labels.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aims to reduce communication barriers and support hearing-impaired individuals through AI-based gesture recognition. </a:t>
            </a:r>
          </a:p>
        </p:txBody>
      </p:sp>
    </p:spTree>
    <p:extLst>
      <p:ext uri="{BB962C8B-B14F-4D97-AF65-F5344CB8AC3E}">
        <p14:creationId xmlns:p14="http://schemas.microsoft.com/office/powerpoint/2010/main" val="27080255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469A0-93E6-3992-1122-587BDAA77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22E60CF-F8D5-0F48-333A-B0BE867456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6425" y="2064854"/>
            <a:ext cx="10075194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develop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machine-learning-based system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recognizing Indian Sign Language gestures.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study and organize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Sign-IDD dataset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containing labeled ISL gesture videos.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preprocess videos using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FFmpeg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consistent format and frame rate.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extract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2D body and hand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keypoints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OpenPose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generate structured 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</a:t>
            </a:r>
            <a:r>
              <a:rPr kumimoji="0" lang="en-US" altLang="en-US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skel</a:t>
            </a:r>
            <a:r>
              <a:rPr kumimoji="0" lang="en-US" altLang="en-US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files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containing skeletal data.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normalize skeletal data and prepare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temporal sequences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develop an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LSTM-based deep learning model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gesture classification.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test the system and evaluate its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gesture recognition performance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4342125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0937F-AC20-EF5E-4402-628A247D6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BCE68DD5-45E6-D78E-73D2-65B17E71CA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6425" y="2480352"/>
            <a:ext cx="11306300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 Preparation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Organize the Sign-IDD dataset according to ISL gesture classes.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Video Preprocessing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Convert videos into a consistent format using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FFmpeg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Skeleton Extraction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Extract 2D body and hand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keypoints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OpenPose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store them in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skel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files.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 Processing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Normalize skeleton coordinates and extract temporal motion features.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Development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Develop an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LSTM-based deep learning model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PyTorch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Training &amp; Evaluation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Divide the dataset into training, validation and testing sets and evaluate the model.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Process new videos and generate the predicted gesture label. </a:t>
            </a:r>
          </a:p>
        </p:txBody>
      </p:sp>
    </p:spTree>
    <p:extLst>
      <p:ext uri="{BB962C8B-B14F-4D97-AF65-F5344CB8AC3E}">
        <p14:creationId xmlns:p14="http://schemas.microsoft.com/office/powerpoint/2010/main" val="10322153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FCBA7-752F-5DD8-FFF5-C415CB0B4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Technologies Used in Internship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E42E1BD-885F-BE2D-D0CC-560DA51E96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6425" y="2443417"/>
            <a:ext cx="6237605" cy="376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800" b="1" dirty="0"/>
              <a:t>Python</a:t>
            </a:r>
            <a:r>
              <a:rPr lang="en-US" sz="1800" dirty="0"/>
              <a:t> – Data processing and model development </a:t>
            </a:r>
          </a:p>
          <a:p>
            <a:r>
              <a:rPr lang="en-US" sz="1800" b="1" dirty="0" err="1"/>
              <a:t>OpenPose</a:t>
            </a:r>
            <a:r>
              <a:rPr lang="en-US" sz="1800" dirty="0"/>
              <a:t> – 2D body and hand </a:t>
            </a:r>
            <a:r>
              <a:rPr lang="en-US" sz="1800" dirty="0" err="1"/>
              <a:t>keypoint</a:t>
            </a:r>
            <a:r>
              <a:rPr lang="en-US" sz="1800" dirty="0"/>
              <a:t> extraction </a:t>
            </a:r>
          </a:p>
          <a:p>
            <a:r>
              <a:rPr lang="en-US" sz="1800" b="1" dirty="0"/>
              <a:t>Sign-IDD Dataset</a:t>
            </a:r>
            <a:r>
              <a:rPr lang="en-US" sz="1800" dirty="0"/>
              <a:t> – Labeled ISL gesture videos </a:t>
            </a:r>
          </a:p>
          <a:p>
            <a:r>
              <a:rPr lang="en-US" sz="1800" b="1" dirty="0" err="1"/>
              <a:t>FFmpeg</a:t>
            </a:r>
            <a:r>
              <a:rPr lang="en-US" sz="1800" dirty="0"/>
              <a:t> – Video preprocessing and conversion </a:t>
            </a:r>
          </a:p>
          <a:p>
            <a:r>
              <a:rPr lang="en-US" sz="1800" b="1" dirty="0" err="1"/>
              <a:t>PyTorch</a:t>
            </a:r>
            <a:r>
              <a:rPr lang="en-US" sz="1800" dirty="0"/>
              <a:t> – LSTM model development and training </a:t>
            </a:r>
          </a:p>
          <a:p>
            <a:r>
              <a:rPr lang="en-US" sz="1800" b="1" dirty="0"/>
              <a:t>NumPy</a:t>
            </a:r>
            <a:r>
              <a:rPr lang="en-US" sz="1800" dirty="0"/>
              <a:t> – Numerical and skeletal data processing </a:t>
            </a:r>
          </a:p>
          <a:p>
            <a:r>
              <a:rPr lang="en-US" sz="1800" b="1" dirty="0"/>
              <a:t>OpenCV</a:t>
            </a:r>
            <a:r>
              <a:rPr lang="en-US" sz="1800" dirty="0"/>
              <a:t> – Video and image processing </a:t>
            </a:r>
          </a:p>
          <a:p>
            <a:r>
              <a:rPr lang="en-US" sz="1800" b="1" dirty="0"/>
              <a:t>LSTM</a:t>
            </a:r>
            <a:r>
              <a:rPr lang="en-US" sz="1800" dirty="0"/>
              <a:t> – Learning temporal patterns in gestures </a:t>
            </a:r>
          </a:p>
          <a:p>
            <a:r>
              <a:rPr lang="en-US" sz="1800" b="1" dirty="0"/>
              <a:t>.</a:t>
            </a:r>
            <a:r>
              <a:rPr lang="en-US" sz="1800" b="1" dirty="0" err="1"/>
              <a:t>skel</a:t>
            </a:r>
            <a:r>
              <a:rPr lang="en-US" sz="1800" b="1" dirty="0"/>
              <a:t> Files</a:t>
            </a:r>
            <a:r>
              <a:rPr lang="en-US" sz="1800" dirty="0"/>
              <a:t> – Storing frame-wise 2D skeletal </a:t>
            </a:r>
            <a:r>
              <a:rPr lang="en-US" sz="1800" dirty="0" err="1"/>
              <a:t>keypoints</a:t>
            </a:r>
            <a:r>
              <a:rPr lang="en-US" sz="1800" dirty="0"/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69801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955A1-2AEA-BA1B-C497-9B19AEE7A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968" y="819538"/>
            <a:ext cx="10914195" cy="1325563"/>
          </a:xfrm>
        </p:spPr>
        <p:txBody>
          <a:bodyPr/>
          <a:lstStyle/>
          <a:p>
            <a:r>
              <a:rPr lang="en-US" dirty="0"/>
              <a:t>Results &amp; Future Scope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C62FEC-A07E-02CD-051B-7B650F898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LSTM model gave </a:t>
            </a:r>
            <a:r>
              <a:rPr lang="en-US" sz="2000" b="1" dirty="0"/>
              <a:t>stable predictions</a:t>
            </a:r>
            <a:r>
              <a:rPr lang="en-US" sz="2000" dirty="0"/>
              <a:t> for most ISL gestures.</a:t>
            </a:r>
          </a:p>
          <a:p>
            <a:pPr marL="114300" indent="0">
              <a:buNone/>
            </a:pPr>
            <a:endParaRPr lang="en-US" sz="2000" dirty="0"/>
          </a:p>
          <a:p>
            <a:r>
              <a:rPr lang="en-US" sz="2000" dirty="0"/>
              <a:t>Average processing time was </a:t>
            </a:r>
            <a:r>
              <a:rPr lang="en-US" sz="2000" b="1" dirty="0"/>
              <a:t>1.5–2 minutes per video</a:t>
            </a:r>
            <a:r>
              <a:rPr lang="en-US" sz="2000" dirty="0"/>
              <a:t> on CPU. </a:t>
            </a:r>
          </a:p>
          <a:p>
            <a:endParaRPr lang="en-US" sz="2000" dirty="0"/>
          </a:p>
          <a:p>
            <a:r>
              <a:rPr lang="en-US" sz="2000" dirty="0"/>
              <a:t> Use </a:t>
            </a:r>
            <a:r>
              <a:rPr lang="en-US" sz="2000" b="1" dirty="0"/>
              <a:t>GPU acceleration and 3D pose estimation</a:t>
            </a:r>
            <a:r>
              <a:rPr lang="en-US" sz="2000" dirty="0"/>
              <a:t> for faster and better recognition.</a:t>
            </a:r>
          </a:p>
          <a:p>
            <a:endParaRPr lang="en-US" sz="2000" dirty="0"/>
          </a:p>
          <a:p>
            <a:r>
              <a:rPr lang="en-US" sz="2000" dirty="0"/>
              <a:t>Add </a:t>
            </a:r>
            <a:r>
              <a:rPr lang="en-US" sz="2000" b="1" dirty="0"/>
              <a:t>real-time webcam, larger datasets, and sentence-level recognition</a:t>
            </a:r>
            <a:r>
              <a:rPr lang="en-US" sz="20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0530723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5BC21-DE98-8992-4552-78EE49967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92DACE0-1715-0899-A1CC-C88299BC35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6613" y="3034072"/>
            <a:ext cx="11483206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Successfully developed an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Indian Sign Language (ISL) recognition system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the Sign-IDD dataset.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OpenPose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was used to extract 2D skeletal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keypoints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LSTM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was used for gesture classification.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produced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stable and consistent predictions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during testing.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project demonstrates that combining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skeletal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keypoint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extraction with temporal deep learning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effective for ISL gesture recognition </a:t>
            </a:r>
          </a:p>
        </p:txBody>
      </p:sp>
    </p:spTree>
    <p:extLst>
      <p:ext uri="{BB962C8B-B14F-4D97-AF65-F5344CB8AC3E}">
        <p14:creationId xmlns:p14="http://schemas.microsoft.com/office/powerpoint/2010/main" val="15606932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1"/>
          <p:cNvSpPr txBox="1">
            <a:spLocks noGrp="1"/>
          </p:cNvSpPr>
          <p:nvPr>
            <p:ph type="title"/>
          </p:nvPr>
        </p:nvSpPr>
        <p:spPr>
          <a:xfrm>
            <a:off x="651710" y="1704474"/>
            <a:ext cx="10888579" cy="3449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900"/>
              <a:buFont typeface="Pinyon Script"/>
              <a:buNone/>
            </a:pPr>
            <a:r>
              <a:rPr lang="en-US" sz="19900" dirty="0">
                <a:latin typeface="Baskerville Old Face" panose="02020602080505020303" pitchFamily="18" charset="0"/>
                <a:ea typeface="Tahoma" panose="020B0604030504040204" pitchFamily="34" charset="0"/>
                <a:cs typeface="Tahoma" panose="020B0604030504040204" pitchFamily="34" charset="0"/>
                <a:sym typeface="Pinyon Script"/>
              </a:rPr>
              <a:t>Thank You</a:t>
            </a:r>
            <a:endParaRPr dirty="0">
              <a:latin typeface="Baskerville Old Face" panose="020206020805050203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569</Words>
  <Application>Microsoft Office PowerPoint</Application>
  <PresentationFormat>Widescreen</PresentationFormat>
  <Paragraphs>100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Times New Roman</vt:lpstr>
      <vt:lpstr>Play</vt:lpstr>
      <vt:lpstr>Pinyon Script</vt:lpstr>
      <vt:lpstr>Arial</vt:lpstr>
      <vt:lpstr>Calibri</vt:lpstr>
      <vt:lpstr>Arial Unicode MS</vt:lpstr>
      <vt:lpstr>Baskerville Old Face</vt:lpstr>
      <vt:lpstr>Office Theme</vt:lpstr>
      <vt:lpstr>School of Computer Science and Engineering B.Tech (CSE) 7 Semester  </vt:lpstr>
      <vt:lpstr>Internship Overview </vt:lpstr>
      <vt:lpstr>Introduction</vt:lpstr>
      <vt:lpstr>Objectives</vt:lpstr>
      <vt:lpstr>Methodology</vt:lpstr>
      <vt:lpstr>Technologies Used in Internship</vt:lpstr>
      <vt:lpstr>Results &amp; Future Scope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Anil Saroliya</dc:creator>
  <cp:lastModifiedBy>sachin mishra</cp:lastModifiedBy>
  <cp:revision>9</cp:revision>
  <dcterms:created xsi:type="dcterms:W3CDTF">2025-07-19T19:52:25Z</dcterms:created>
  <dcterms:modified xsi:type="dcterms:W3CDTF">2026-08-30T18:17:43Z</dcterms:modified>
</cp:coreProperties>
</file>